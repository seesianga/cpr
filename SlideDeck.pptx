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 Medium" charset="1" panose="00000600000000000000"/>
      <p:regular r:id="rId12"/>
    </p:embeddedFont>
    <p:embeddedFont>
      <p:font typeface="Open Sauce" charset="1" panose="00000500000000000000"/>
      <p:regular r:id="rId13"/>
    </p:embeddedFont>
    <p:embeddedFont>
      <p:font typeface="Open Sauce Bold" charset="1" panose="00000800000000000000"/>
      <p:regular r:id="rId14"/>
    </p:embeddedFont>
    <p:embeddedFont>
      <p:font typeface="Aileron Light" charset="1" panose="00000400000000000000"/>
      <p:regular r:id="rId15"/>
    </p:embeddedFont>
    <p:embeddedFont>
      <p:font typeface="Bricolage Grotesque Bold" charset="1" panose="020B0605040402000204"/>
      <p:regular r:id="rId16"/>
    </p:embeddedFont>
    <p:embeddedFont>
      <p:font typeface="Aileron" charset="1" panose="00000500000000000000"/>
      <p:regular r:id="rId17"/>
    </p:embeddedFont>
    <p:embeddedFont>
      <p:font typeface="Open Sauce Bold Italics" charset="1" panose="000008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084" y="1578029"/>
            <a:ext cx="17969833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0"/>
              </a:lnSpc>
            </a:pPr>
            <a:r>
              <a:rPr lang="en-US" b="true" sz="30000" spc="-1350">
                <a:solidFill>
                  <a:srgbClr val="EFEFEF">
                    <a:alpha val="82745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Lifesaver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12990" y="4505829"/>
            <a:ext cx="19141667" cy="2379468"/>
            <a:chOff x="0" y="0"/>
            <a:chExt cx="5570263" cy="6924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70263" cy="692430"/>
            </a:xfrm>
            <a:custGeom>
              <a:avLst/>
              <a:gdLst/>
              <a:ahLst/>
              <a:cxnLst/>
              <a:rect r="r" b="b" t="t" l="l"/>
              <a:pathLst>
                <a:path h="692430" w="5570263">
                  <a:moveTo>
                    <a:pt x="0" y="0"/>
                  </a:moveTo>
                  <a:lnTo>
                    <a:pt x="5570263" y="0"/>
                  </a:lnTo>
                  <a:lnTo>
                    <a:pt x="5570263" y="692430"/>
                  </a:lnTo>
                  <a:lnTo>
                    <a:pt x="0" y="692430"/>
                  </a:ln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570263" cy="692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53770" y="505729"/>
            <a:ext cx="4279219" cy="502851"/>
            <a:chOff x="0" y="0"/>
            <a:chExt cx="3458428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6250622"/>
            <a:ext cx="4116478" cy="939246"/>
            <a:chOff x="0" y="0"/>
            <a:chExt cx="1781149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81149" cy="406400"/>
            </a:xfrm>
            <a:custGeom>
              <a:avLst/>
              <a:gdLst/>
              <a:ahLst/>
              <a:cxnLst/>
              <a:rect r="r" b="b" t="t" l="l"/>
              <a:pathLst>
                <a:path h="406400" w="1781149">
                  <a:moveTo>
                    <a:pt x="1577949" y="0"/>
                  </a:moveTo>
                  <a:cubicBezTo>
                    <a:pt x="1690173" y="0"/>
                    <a:pt x="1781149" y="90976"/>
                    <a:pt x="1781149" y="203200"/>
                  </a:cubicBezTo>
                  <a:cubicBezTo>
                    <a:pt x="1781149" y="315424"/>
                    <a:pt x="1690173" y="406400"/>
                    <a:pt x="15779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781149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71221" y="6250622"/>
            <a:ext cx="6560981" cy="939246"/>
            <a:chOff x="0" y="0"/>
            <a:chExt cx="2838855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38855" cy="406400"/>
            </a:xfrm>
            <a:custGeom>
              <a:avLst/>
              <a:gdLst/>
              <a:ahLst/>
              <a:cxnLst/>
              <a:rect r="r" b="b" t="t" l="l"/>
              <a:pathLst>
                <a:path h="406400" w="2838855">
                  <a:moveTo>
                    <a:pt x="2635655" y="0"/>
                  </a:moveTo>
                  <a:cubicBezTo>
                    <a:pt x="2747879" y="0"/>
                    <a:pt x="2838855" y="90976"/>
                    <a:pt x="2838855" y="203200"/>
                  </a:cubicBezTo>
                  <a:cubicBezTo>
                    <a:pt x="2838855" y="315424"/>
                    <a:pt x="2747879" y="406400"/>
                    <a:pt x="26356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100000"/>
                  </a:srgbClr>
                </a:gs>
                <a:gs pos="20000">
                  <a:srgbClr val="0F062D">
                    <a:alpha val="100000"/>
                  </a:srgbClr>
                </a:gs>
                <a:gs pos="40000">
                  <a:srgbClr val="0F062D">
                    <a:alpha val="84000"/>
                  </a:srgbClr>
                </a:gs>
                <a:gs pos="60000">
                  <a:srgbClr val="0F062D">
                    <a:alpha val="62000"/>
                  </a:srgbClr>
                </a:gs>
                <a:gs pos="80000">
                  <a:srgbClr val="0F062D">
                    <a:alpha val="38000"/>
                  </a:srgbClr>
                </a:gs>
                <a:gs pos="100000">
                  <a:srgbClr val="0F062D">
                    <a:alpha val="0"/>
                  </a:srgbClr>
                </a:gs>
              </a:gsLst>
              <a:lin ang="0"/>
            </a:gra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838855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4396446" y="5746482"/>
            <a:ext cx="6985412" cy="4540518"/>
          </a:xfrm>
          <a:custGeom>
            <a:avLst/>
            <a:gdLst/>
            <a:ahLst/>
            <a:cxnLst/>
            <a:rect r="r" b="b" t="t" l="l"/>
            <a:pathLst>
              <a:path h="4540518" w="6985412">
                <a:moveTo>
                  <a:pt x="0" y="0"/>
                </a:moveTo>
                <a:lnTo>
                  <a:pt x="6985412" y="0"/>
                </a:lnTo>
                <a:lnTo>
                  <a:pt x="6985412" y="4540518"/>
                </a:lnTo>
                <a:lnTo>
                  <a:pt x="0" y="4540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18343" y="6523671"/>
            <a:ext cx="3737193" cy="51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b="true" sz="4209" spc="-1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Mission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04846" y="796651"/>
            <a:ext cx="3737193" cy="2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199" spc="-98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By Elppa: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21703" y="677716"/>
            <a:ext cx="29317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August 10, 2026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53770" y="677716"/>
            <a:ext cx="42792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Presented by : Elppa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756243" y="6523671"/>
            <a:ext cx="6390936" cy="51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b="true" sz="4209" spc="-1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Demo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0400" y="525849"/>
            <a:ext cx="3877691" cy="502851"/>
            <a:chOff x="0" y="0"/>
            <a:chExt cx="313391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00291" y="2710017"/>
            <a:ext cx="4043470" cy="2804455"/>
            <a:chOff x="0" y="0"/>
            <a:chExt cx="525177" cy="364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5177" cy="364250"/>
            </a:xfrm>
            <a:custGeom>
              <a:avLst/>
              <a:gdLst/>
              <a:ahLst/>
              <a:cxnLst/>
              <a:rect r="r" b="b" t="t" l="l"/>
              <a:pathLst>
                <a:path h="364250" w="525177">
                  <a:moveTo>
                    <a:pt x="68928" y="0"/>
                  </a:moveTo>
                  <a:lnTo>
                    <a:pt x="456249" y="0"/>
                  </a:lnTo>
                  <a:cubicBezTo>
                    <a:pt x="494317" y="0"/>
                    <a:pt x="525177" y="30860"/>
                    <a:pt x="525177" y="68928"/>
                  </a:cubicBezTo>
                  <a:lnTo>
                    <a:pt x="525177" y="295322"/>
                  </a:lnTo>
                  <a:cubicBezTo>
                    <a:pt x="525177" y="313603"/>
                    <a:pt x="517915" y="331135"/>
                    <a:pt x="504988" y="344062"/>
                  </a:cubicBezTo>
                  <a:cubicBezTo>
                    <a:pt x="492062" y="356988"/>
                    <a:pt x="474530" y="364250"/>
                    <a:pt x="456249" y="364250"/>
                  </a:cubicBezTo>
                  <a:lnTo>
                    <a:pt x="68928" y="364250"/>
                  </a:lnTo>
                  <a:cubicBezTo>
                    <a:pt x="30860" y="364250"/>
                    <a:pt x="0" y="333390"/>
                    <a:pt x="0" y="295322"/>
                  </a:cubicBezTo>
                  <a:lnTo>
                    <a:pt x="0" y="68928"/>
                  </a:lnTo>
                  <a:cubicBezTo>
                    <a:pt x="0" y="30860"/>
                    <a:pt x="30860" y="0"/>
                    <a:pt x="68928" y="0"/>
                  </a:cubicBezTo>
                  <a:close/>
                </a:path>
              </a:pathLst>
            </a:custGeom>
            <a:blipFill>
              <a:blip r:embed="rId2"/>
              <a:stretch>
                <a:fillRect l="-14507" t="0" r="-14507" b="-4633"/>
              </a:stretch>
            </a:blipFill>
            <a:ln w="9525" cap="rnd">
              <a:solidFill>
                <a:srgbClr val="EFEFE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280705" y="505469"/>
            <a:ext cx="3877691" cy="502851"/>
            <a:chOff x="0" y="0"/>
            <a:chExt cx="3133917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69121" y="525849"/>
            <a:ext cx="3877691" cy="502851"/>
            <a:chOff x="0" y="0"/>
            <a:chExt cx="3133917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523214" y="525849"/>
            <a:ext cx="3877691" cy="502851"/>
            <a:chOff x="0" y="0"/>
            <a:chExt cx="3133917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30832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 problem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8493" y="5143500"/>
            <a:ext cx="5909265" cy="3203715"/>
            <a:chOff x="0" y="0"/>
            <a:chExt cx="874176" cy="4739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4176" cy="473936"/>
            </a:xfrm>
            <a:custGeom>
              <a:avLst/>
              <a:gdLst/>
              <a:ahLst/>
              <a:cxnLst/>
              <a:rect r="r" b="b" t="t" l="l"/>
              <a:pathLst>
                <a:path h="473936" w="874176">
                  <a:moveTo>
                    <a:pt x="47165" y="0"/>
                  </a:moveTo>
                  <a:lnTo>
                    <a:pt x="827011" y="0"/>
                  </a:lnTo>
                  <a:cubicBezTo>
                    <a:pt x="853060" y="0"/>
                    <a:pt x="874176" y="21116"/>
                    <a:pt x="874176" y="47165"/>
                  </a:cubicBezTo>
                  <a:lnTo>
                    <a:pt x="874176" y="426771"/>
                  </a:lnTo>
                  <a:cubicBezTo>
                    <a:pt x="874176" y="439280"/>
                    <a:pt x="869207" y="451276"/>
                    <a:pt x="860362" y="460121"/>
                  </a:cubicBezTo>
                  <a:cubicBezTo>
                    <a:pt x="851517" y="468966"/>
                    <a:pt x="839520" y="473936"/>
                    <a:pt x="827011" y="473936"/>
                  </a:cubicBezTo>
                  <a:lnTo>
                    <a:pt x="47165" y="473936"/>
                  </a:lnTo>
                  <a:cubicBezTo>
                    <a:pt x="34656" y="473936"/>
                    <a:pt x="22659" y="468966"/>
                    <a:pt x="13814" y="460121"/>
                  </a:cubicBezTo>
                  <a:cubicBezTo>
                    <a:pt x="4969" y="451276"/>
                    <a:pt x="0" y="439280"/>
                    <a:pt x="0" y="426771"/>
                  </a:cubicBezTo>
                  <a:lnTo>
                    <a:pt x="0" y="47165"/>
                  </a:lnTo>
                  <a:cubicBezTo>
                    <a:pt x="0" y="34656"/>
                    <a:pt x="4969" y="22659"/>
                    <a:pt x="13814" y="13814"/>
                  </a:cubicBezTo>
                  <a:cubicBezTo>
                    <a:pt x="22659" y="4969"/>
                    <a:pt x="34656" y="0"/>
                    <a:pt x="47165" y="0"/>
                  </a:cubicBezTo>
                  <a:close/>
                </a:path>
              </a:pathLst>
            </a:custGeom>
            <a:blipFill>
              <a:blip r:embed="rId3">
                <a:alphaModFix amt="38000"/>
              </a:blip>
              <a:stretch>
                <a:fillRect l="-535" t="0" r="-1001" b="-3092"/>
              </a:stretch>
            </a:blipFill>
            <a:ln w="9525" cap="rnd">
              <a:solidFill>
                <a:srgbClr val="EFEFEF">
                  <a:alpha val="37647"/>
                </a:srgbClr>
              </a:solidFill>
              <a:prstDash val="solid"/>
              <a:round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54339" y="1366894"/>
            <a:ext cx="6732654" cy="818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0"/>
              </a:lnSpc>
            </a:pPr>
            <a:r>
              <a:rPr lang="en-US" sz="8000" spc="-360">
                <a:solidFill>
                  <a:srgbClr val="EFEFEF"/>
                </a:solidFill>
                <a:latin typeface="Open Sauce"/>
                <a:ea typeface="Open Sauce"/>
                <a:cs typeface="Open Sauce"/>
                <a:sym typeface="Open Sauce"/>
              </a:rPr>
              <a:t>Every Minute Without CPR </a:t>
            </a:r>
            <a:r>
              <a:rPr lang="en-US" sz="8000" spc="-360" b="true">
                <a:solidFill>
                  <a:srgbClr val="EFEF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Costs </a:t>
            </a:r>
          </a:p>
          <a:p>
            <a:pPr algn="l">
              <a:lnSpc>
                <a:spcPts val="13120"/>
              </a:lnSpc>
            </a:pPr>
          </a:p>
          <a:p>
            <a:pPr algn="l">
              <a:lnSpc>
                <a:spcPts val="13120"/>
              </a:lnSpc>
            </a:pPr>
            <a:r>
              <a:rPr lang="en-US" sz="8000" spc="-360" b="true">
                <a:solidFill>
                  <a:srgbClr val="FFDE5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10%</a:t>
            </a:r>
            <a:r>
              <a:rPr lang="en-US" sz="8000" spc="-360">
                <a:solidFill>
                  <a:srgbClr val="EFEFEF"/>
                </a:solidFill>
                <a:latin typeface="Open Sauce"/>
                <a:ea typeface="Open Sauce"/>
                <a:cs typeface="Open Sauce"/>
                <a:sym typeface="Open Sauce"/>
              </a:rPr>
              <a:t> Survival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46841" y="6579294"/>
            <a:ext cx="7416074" cy="78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</a:pPr>
            <a:r>
              <a:rPr lang="en-US" sz="2428" spc="-77" strike="noStrike" u="none">
                <a:solidFill>
                  <a:srgbClr val="B8B8B8"/>
                </a:solidFill>
                <a:latin typeface="Aileron Light"/>
                <a:ea typeface="Aileron Light"/>
                <a:cs typeface="Aileron Light"/>
                <a:sym typeface="Aileron Light"/>
              </a:rPr>
              <a:t>out-of-hospital cardiac arrests occur in Singapore every year</a:t>
            </a:r>
          </a:p>
          <a:p>
            <a:pPr algn="l" marL="0" indent="0" lvl="0">
              <a:lnSpc>
                <a:spcPts val="315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521137" y="59119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elppa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09553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Our </a:t>
            </a:r>
            <a:r>
              <a:rPr lang="en-US" b="true" sz="3199" spc="-143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63646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Our vision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13926" y="6559140"/>
            <a:ext cx="111144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  <a:spcBef>
                <a:spcPct val="0"/>
              </a:spcBef>
            </a:pPr>
            <a:r>
              <a:rPr lang="en-US" b="true" sz="3738" spc="-224">
                <a:solidFill>
                  <a:srgbClr val="B896F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3000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15191" y="7716704"/>
            <a:ext cx="171018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  <a:spcBef>
                <a:spcPct val="0"/>
              </a:spcBef>
            </a:pPr>
            <a:r>
              <a:rPr lang="en-US" b="true" sz="3738" spc="-224">
                <a:solidFill>
                  <a:srgbClr val="B896F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70-80%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94390" y="7647021"/>
            <a:ext cx="7991842" cy="118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7"/>
              </a:lnSpc>
            </a:pPr>
            <a:r>
              <a:rPr lang="en-US" sz="2428" spc="-77" strike="noStrike" u="none">
                <a:solidFill>
                  <a:srgbClr val="B8B8B8"/>
                </a:solidFill>
                <a:latin typeface="Aileron Light"/>
                <a:ea typeface="Aileron Light"/>
                <a:cs typeface="Aileron Light"/>
                <a:sym typeface="Aileron Light"/>
              </a:rPr>
              <a:t>happen at home or in public places — bystanders</a:t>
            </a:r>
          </a:p>
          <a:p>
            <a:pPr algn="l" marL="0" indent="0" lvl="0">
              <a:lnSpc>
                <a:spcPts val="3157"/>
              </a:lnSpc>
            </a:pPr>
            <a:r>
              <a:rPr lang="en-US" sz="2428" spc="-77" strike="noStrike" u="none">
                <a:solidFill>
                  <a:srgbClr val="B8B8B8"/>
                </a:solidFill>
                <a:latin typeface="Aileron Light"/>
                <a:ea typeface="Aileron Light"/>
                <a:cs typeface="Aileron Light"/>
                <a:sym typeface="Aileron Light"/>
              </a:rPr>
              <a:t>are the first line of defence</a:t>
            </a:r>
          </a:p>
          <a:p>
            <a:pPr algn="l" marL="0" indent="0" lvl="0">
              <a:lnSpc>
                <a:spcPts val="315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346812" y="3494144"/>
            <a:ext cx="4439420" cy="170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7"/>
              </a:lnSpc>
            </a:pPr>
            <a:r>
              <a:rPr lang="en-US" sz="2598" spc="-83">
                <a:solidFill>
                  <a:srgbClr val="B8B8B8"/>
                </a:solidFill>
                <a:latin typeface="Aileron"/>
                <a:ea typeface="Aileron"/>
                <a:cs typeface="Aileron"/>
                <a:sym typeface="Aileron"/>
              </a:rPr>
              <a:t>Yet</a:t>
            </a:r>
            <a:r>
              <a:rPr lang="en-US" sz="2598" spc="-83" strike="noStrike" u="none">
                <a:solidFill>
                  <a:srgbClr val="B8B8B8"/>
                </a:solidFill>
                <a:latin typeface="Aileron"/>
                <a:ea typeface="Aileron"/>
                <a:cs typeface="Aileron"/>
                <a:sym typeface="Aileron"/>
              </a:rPr>
              <a:t> most people learn CPR+AED once, in a one-off class, resulting dulled first-aid capabilities.</a:t>
            </a:r>
          </a:p>
          <a:p>
            <a:pPr algn="l" marL="0" indent="0" lvl="0">
              <a:lnSpc>
                <a:spcPts val="337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3454878" y="1700269"/>
            <a:ext cx="3765392" cy="134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83"/>
              </a:lnSpc>
              <a:spcBef>
                <a:spcPct val="0"/>
              </a:spcBef>
            </a:pPr>
            <a:r>
              <a:rPr lang="en-US" b="true" sz="4402" spc="-26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ONE-OF CLASS, </a:t>
            </a:r>
          </a:p>
          <a:p>
            <a:pPr algn="r">
              <a:lnSpc>
                <a:spcPts val="5283"/>
              </a:lnSpc>
              <a:spcBef>
                <a:spcPct val="0"/>
              </a:spcBef>
            </a:pPr>
            <a:r>
              <a:rPr lang="en-US" b="true" sz="4402" spc="-26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SKILLS GO DULL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901" y="2908716"/>
            <a:ext cx="18674901" cy="7378284"/>
            <a:chOff x="0" y="0"/>
            <a:chExt cx="24899868" cy="98377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812800" cy="12453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812800" cy="12453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812800" cy="15261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812800" cy="15261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812800" cy="18287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812800" cy="18287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812800" cy="22568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6"/>
                  </a:lnSpc>
                </a:pPr>
              </a:p>
            </p:txBody>
          </p:sp>
        </p:grpSp>
      </p:grpSp>
      <p:sp>
        <p:nvSpPr>
          <p:cNvPr name="Freeform 24" id="24"/>
          <p:cNvSpPr/>
          <p:nvPr/>
        </p:nvSpPr>
        <p:spPr>
          <a:xfrm flipH="false" flipV="false" rot="0">
            <a:off x="1090400" y="5322223"/>
            <a:ext cx="4023260" cy="4964777"/>
          </a:xfrm>
          <a:custGeom>
            <a:avLst/>
            <a:gdLst/>
            <a:ahLst/>
            <a:cxnLst/>
            <a:rect r="r" b="b" t="t" l="l"/>
            <a:pathLst>
              <a:path h="4964777" w="4023260">
                <a:moveTo>
                  <a:pt x="0" y="0"/>
                </a:moveTo>
                <a:lnTo>
                  <a:pt x="4023260" y="0"/>
                </a:lnTo>
                <a:lnTo>
                  <a:pt x="4023260" y="4964777"/>
                </a:lnTo>
                <a:lnTo>
                  <a:pt x="0" y="4964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538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489450">
            <a:off x="5940094" y="4811131"/>
            <a:ext cx="3902077" cy="6183428"/>
          </a:xfrm>
          <a:custGeom>
            <a:avLst/>
            <a:gdLst/>
            <a:ahLst/>
            <a:cxnLst/>
            <a:rect r="r" b="b" t="t" l="l"/>
            <a:pathLst>
              <a:path h="6183428" w="3902077">
                <a:moveTo>
                  <a:pt x="0" y="0"/>
                </a:moveTo>
                <a:lnTo>
                  <a:pt x="3902077" y="0"/>
                </a:lnTo>
                <a:lnTo>
                  <a:pt x="3902077" y="6183427"/>
                </a:lnTo>
                <a:lnTo>
                  <a:pt x="0" y="61834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055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-178714">
            <a:off x="1805293" y="4715340"/>
            <a:ext cx="7431687" cy="1082973"/>
            <a:chOff x="0" y="0"/>
            <a:chExt cx="1619962" cy="2360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19962" cy="236067"/>
            </a:xfrm>
            <a:custGeom>
              <a:avLst/>
              <a:gdLst/>
              <a:ahLst/>
              <a:cxnLst/>
              <a:rect r="r" b="b" t="t" l="l"/>
              <a:pathLst>
                <a:path h="236067" w="1619962">
                  <a:moveTo>
                    <a:pt x="37503" y="0"/>
                  </a:moveTo>
                  <a:lnTo>
                    <a:pt x="1582460" y="0"/>
                  </a:lnTo>
                  <a:cubicBezTo>
                    <a:pt x="1603172" y="0"/>
                    <a:pt x="1619962" y="16791"/>
                    <a:pt x="1619962" y="37503"/>
                  </a:cubicBezTo>
                  <a:lnTo>
                    <a:pt x="1619962" y="198564"/>
                  </a:lnTo>
                  <a:cubicBezTo>
                    <a:pt x="1619962" y="219276"/>
                    <a:pt x="1603172" y="236067"/>
                    <a:pt x="1582460" y="236067"/>
                  </a:cubicBezTo>
                  <a:lnTo>
                    <a:pt x="37503" y="236067"/>
                  </a:lnTo>
                  <a:cubicBezTo>
                    <a:pt x="16791" y="236067"/>
                    <a:pt x="0" y="219276"/>
                    <a:pt x="0" y="198564"/>
                  </a:cubicBezTo>
                  <a:lnTo>
                    <a:pt x="0" y="37503"/>
                  </a:lnTo>
                  <a:cubicBezTo>
                    <a:pt x="0" y="16791"/>
                    <a:pt x="16791" y="0"/>
                    <a:pt x="375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619962" cy="236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74391" y="4965595"/>
            <a:ext cx="5317752" cy="1355456"/>
            <a:chOff x="0" y="0"/>
            <a:chExt cx="1400560" cy="3569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00560" cy="356992"/>
            </a:xfrm>
            <a:custGeom>
              <a:avLst/>
              <a:gdLst/>
              <a:ahLst/>
              <a:cxnLst/>
              <a:rect r="r" b="b" t="t" l="l"/>
              <a:pathLst>
                <a:path h="356992" w="1400560">
                  <a:moveTo>
                    <a:pt x="52411" y="0"/>
                  </a:moveTo>
                  <a:lnTo>
                    <a:pt x="1348149" y="0"/>
                  </a:lnTo>
                  <a:cubicBezTo>
                    <a:pt x="1377095" y="0"/>
                    <a:pt x="1400560" y="23465"/>
                    <a:pt x="1400560" y="52411"/>
                  </a:cubicBezTo>
                  <a:lnTo>
                    <a:pt x="1400560" y="304581"/>
                  </a:lnTo>
                  <a:cubicBezTo>
                    <a:pt x="1400560" y="318482"/>
                    <a:pt x="1395038" y="331813"/>
                    <a:pt x="1385209" y="341642"/>
                  </a:cubicBezTo>
                  <a:cubicBezTo>
                    <a:pt x="1375380" y="351471"/>
                    <a:pt x="1362049" y="356992"/>
                    <a:pt x="1348149" y="356992"/>
                  </a:cubicBezTo>
                  <a:lnTo>
                    <a:pt x="52411" y="356992"/>
                  </a:lnTo>
                  <a:cubicBezTo>
                    <a:pt x="38511" y="356992"/>
                    <a:pt x="25180" y="351471"/>
                    <a:pt x="15351" y="341642"/>
                  </a:cubicBezTo>
                  <a:cubicBezTo>
                    <a:pt x="5522" y="331813"/>
                    <a:pt x="0" y="318482"/>
                    <a:pt x="0" y="304581"/>
                  </a:cubicBezTo>
                  <a:lnTo>
                    <a:pt x="0" y="52411"/>
                  </a:lnTo>
                  <a:cubicBezTo>
                    <a:pt x="0" y="38511"/>
                    <a:pt x="5522" y="25180"/>
                    <a:pt x="15351" y="15351"/>
                  </a:cubicBezTo>
                  <a:cubicBezTo>
                    <a:pt x="25180" y="5522"/>
                    <a:pt x="38511" y="0"/>
                    <a:pt x="52411" y="0"/>
                  </a:cubicBezTo>
                  <a:close/>
                </a:path>
              </a:pathLst>
            </a:custGeom>
            <a:ln w="19050" cap="rnd">
              <a:solidFill>
                <a:srgbClr val="0F042D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400560" cy="356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false" rot="0">
            <a:off x="11407967" y="1651862"/>
            <a:ext cx="5386351" cy="3313733"/>
          </a:xfrm>
          <a:custGeom>
            <a:avLst/>
            <a:gdLst/>
            <a:ahLst/>
            <a:cxnLst/>
            <a:rect r="r" b="b" t="t" l="l"/>
            <a:pathLst>
              <a:path h="3313733" w="5386351">
                <a:moveTo>
                  <a:pt x="5386351" y="0"/>
                </a:moveTo>
                <a:lnTo>
                  <a:pt x="0" y="0"/>
                </a:lnTo>
                <a:lnTo>
                  <a:pt x="0" y="3313733"/>
                </a:lnTo>
                <a:lnTo>
                  <a:pt x="5386351" y="3313733"/>
                </a:lnTo>
                <a:lnTo>
                  <a:pt x="5386351" y="0"/>
                </a:lnTo>
                <a:close/>
              </a:path>
            </a:pathLst>
          </a:custGeom>
          <a:blipFill>
            <a:blip r:embed="rId4"/>
            <a:stretch>
              <a:fillRect l="-6057" t="-9266" r="-8497" b="-11766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5521137" y="449649"/>
            <a:ext cx="3366959" cy="655251"/>
            <a:chOff x="0" y="0"/>
            <a:chExt cx="2721148" cy="5295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21148" cy="529568"/>
            </a:xfrm>
            <a:custGeom>
              <a:avLst/>
              <a:gdLst/>
              <a:ahLst/>
              <a:cxnLst/>
              <a:rect r="r" b="b" t="t" l="l"/>
              <a:pathLst>
                <a:path h="529568" w="2721148">
                  <a:moveTo>
                    <a:pt x="2517948" y="0"/>
                  </a:moveTo>
                  <a:cubicBezTo>
                    <a:pt x="2630172" y="0"/>
                    <a:pt x="2721148" y="118548"/>
                    <a:pt x="2721148" y="264784"/>
                  </a:cubicBezTo>
                  <a:cubicBezTo>
                    <a:pt x="2721148" y="411020"/>
                    <a:pt x="2630172" y="529568"/>
                    <a:pt x="2517948" y="529568"/>
                  </a:cubicBezTo>
                  <a:lnTo>
                    <a:pt x="203200" y="529568"/>
                  </a:lnTo>
                  <a:cubicBezTo>
                    <a:pt x="90976" y="529568"/>
                    <a:pt x="0" y="411020"/>
                    <a:pt x="0" y="264784"/>
                  </a:cubicBezTo>
                  <a:cubicBezTo>
                    <a:pt x="0" y="118548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721148" cy="529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28700" y="1140341"/>
            <a:ext cx="3779619" cy="130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8"/>
              </a:lnSpc>
            </a:pPr>
            <a:r>
              <a:rPr lang="en-US" sz="9600" spc="-432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elppa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0400" y="2861091"/>
            <a:ext cx="9735518" cy="148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19"/>
              </a:lnSpc>
            </a:pPr>
            <a:r>
              <a:rPr lang="en-US" sz="4399" spc="-140">
                <a:solidFill>
                  <a:srgbClr val="0F042D"/>
                </a:solidFill>
                <a:latin typeface="Aileron"/>
                <a:ea typeface="Aileron"/>
                <a:cs typeface="Aileron"/>
                <a:sym typeface="Aileron"/>
              </a:rPr>
              <a:t>Turn bystanders into first aid responders</a:t>
            </a:r>
          </a:p>
          <a:p>
            <a:pPr algn="l" marL="0" indent="0" lvl="0">
              <a:lnSpc>
                <a:spcPts val="610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-178714">
            <a:off x="2907913" y="4922409"/>
            <a:ext cx="5407620" cy="66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4927" spc="-221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CPR &amp; AED tutorial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42082" y="5344373"/>
            <a:ext cx="4090547" cy="50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Immersive Practice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574391" y="6776463"/>
            <a:ext cx="5317752" cy="1355456"/>
            <a:chOff x="0" y="0"/>
            <a:chExt cx="1400560" cy="3569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00560" cy="356992"/>
            </a:xfrm>
            <a:custGeom>
              <a:avLst/>
              <a:gdLst/>
              <a:ahLst/>
              <a:cxnLst/>
              <a:rect r="r" b="b" t="t" l="l"/>
              <a:pathLst>
                <a:path h="356992" w="1400560">
                  <a:moveTo>
                    <a:pt x="52411" y="0"/>
                  </a:moveTo>
                  <a:lnTo>
                    <a:pt x="1348149" y="0"/>
                  </a:lnTo>
                  <a:cubicBezTo>
                    <a:pt x="1377095" y="0"/>
                    <a:pt x="1400560" y="23465"/>
                    <a:pt x="1400560" y="52411"/>
                  </a:cubicBezTo>
                  <a:lnTo>
                    <a:pt x="1400560" y="304581"/>
                  </a:lnTo>
                  <a:cubicBezTo>
                    <a:pt x="1400560" y="318482"/>
                    <a:pt x="1395038" y="331813"/>
                    <a:pt x="1385209" y="341642"/>
                  </a:cubicBezTo>
                  <a:cubicBezTo>
                    <a:pt x="1375380" y="351471"/>
                    <a:pt x="1362049" y="356992"/>
                    <a:pt x="1348149" y="356992"/>
                  </a:cubicBezTo>
                  <a:lnTo>
                    <a:pt x="52411" y="356992"/>
                  </a:lnTo>
                  <a:cubicBezTo>
                    <a:pt x="38511" y="356992"/>
                    <a:pt x="25180" y="351471"/>
                    <a:pt x="15351" y="341642"/>
                  </a:cubicBezTo>
                  <a:cubicBezTo>
                    <a:pt x="5522" y="331813"/>
                    <a:pt x="0" y="318482"/>
                    <a:pt x="0" y="304581"/>
                  </a:cubicBezTo>
                  <a:lnTo>
                    <a:pt x="0" y="52411"/>
                  </a:lnTo>
                  <a:cubicBezTo>
                    <a:pt x="0" y="38511"/>
                    <a:pt x="5522" y="25180"/>
                    <a:pt x="15351" y="15351"/>
                  </a:cubicBezTo>
                  <a:cubicBezTo>
                    <a:pt x="25180" y="5522"/>
                    <a:pt x="38511" y="0"/>
                    <a:pt x="52411" y="0"/>
                  </a:cubicBezTo>
                  <a:close/>
                </a:path>
              </a:pathLst>
            </a:custGeom>
            <a:ln w="19050" cap="rnd">
              <a:solidFill>
                <a:srgbClr val="0F042D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400560" cy="356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842082" y="6935327"/>
            <a:ext cx="4090547" cy="50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Precise Guidance 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574391" y="8587332"/>
            <a:ext cx="5317752" cy="1355456"/>
            <a:chOff x="0" y="0"/>
            <a:chExt cx="1400560" cy="3569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00560" cy="356992"/>
            </a:xfrm>
            <a:custGeom>
              <a:avLst/>
              <a:gdLst/>
              <a:ahLst/>
              <a:cxnLst/>
              <a:rect r="r" b="b" t="t" l="l"/>
              <a:pathLst>
                <a:path h="356992" w="1400560">
                  <a:moveTo>
                    <a:pt x="52411" y="0"/>
                  </a:moveTo>
                  <a:lnTo>
                    <a:pt x="1348149" y="0"/>
                  </a:lnTo>
                  <a:cubicBezTo>
                    <a:pt x="1377095" y="0"/>
                    <a:pt x="1400560" y="23465"/>
                    <a:pt x="1400560" y="52411"/>
                  </a:cubicBezTo>
                  <a:lnTo>
                    <a:pt x="1400560" y="304581"/>
                  </a:lnTo>
                  <a:cubicBezTo>
                    <a:pt x="1400560" y="318482"/>
                    <a:pt x="1395038" y="331813"/>
                    <a:pt x="1385209" y="341642"/>
                  </a:cubicBezTo>
                  <a:cubicBezTo>
                    <a:pt x="1375380" y="351471"/>
                    <a:pt x="1362049" y="356992"/>
                    <a:pt x="1348149" y="356992"/>
                  </a:cubicBezTo>
                  <a:lnTo>
                    <a:pt x="52411" y="356992"/>
                  </a:lnTo>
                  <a:cubicBezTo>
                    <a:pt x="38511" y="356992"/>
                    <a:pt x="25180" y="351471"/>
                    <a:pt x="15351" y="341642"/>
                  </a:cubicBezTo>
                  <a:cubicBezTo>
                    <a:pt x="5522" y="331813"/>
                    <a:pt x="0" y="318482"/>
                    <a:pt x="0" y="304581"/>
                  </a:cubicBezTo>
                  <a:lnTo>
                    <a:pt x="0" y="52411"/>
                  </a:lnTo>
                  <a:cubicBezTo>
                    <a:pt x="0" y="38511"/>
                    <a:pt x="5522" y="25180"/>
                    <a:pt x="15351" y="15351"/>
                  </a:cubicBezTo>
                  <a:cubicBezTo>
                    <a:pt x="25180" y="5522"/>
                    <a:pt x="38511" y="0"/>
                    <a:pt x="52411" y="0"/>
                  </a:cubicBezTo>
                  <a:close/>
                </a:path>
              </a:pathLst>
            </a:custGeom>
            <a:ln w="19050" cap="rnd">
              <a:solidFill>
                <a:srgbClr val="0F042D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400560" cy="356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842082" y="8758145"/>
            <a:ext cx="4090547" cy="50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Practice Anytime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842082" y="5823608"/>
            <a:ext cx="4928134" cy="85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7"/>
              </a:lnSpc>
            </a:pPr>
            <a:r>
              <a:rPr lang="en-US" sz="2598" spc="-83">
                <a:solidFill>
                  <a:srgbClr val="696969"/>
                </a:solidFill>
                <a:latin typeface="Aileron"/>
                <a:ea typeface="Aileron"/>
                <a:cs typeface="Aileron"/>
                <a:sym typeface="Aileron"/>
              </a:rPr>
              <a:t>Fir</a:t>
            </a:r>
            <a:r>
              <a:rPr lang="en-US" sz="2598" spc="-83" strike="noStrike" u="none">
                <a:solidFill>
                  <a:srgbClr val="696969"/>
                </a:solidFill>
                <a:latin typeface="Aileron"/>
                <a:ea typeface="Aileron"/>
                <a:cs typeface="Aileron"/>
                <a:sym typeface="Aileron"/>
              </a:rPr>
              <a:t>st-person AED &amp; CPR simulation</a:t>
            </a:r>
          </a:p>
          <a:p>
            <a:pPr algn="l" marL="0" indent="0" lvl="0">
              <a:lnSpc>
                <a:spcPts val="3377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11842082" y="7497024"/>
            <a:ext cx="4928134" cy="42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7"/>
              </a:lnSpc>
            </a:pPr>
            <a:r>
              <a:rPr lang="en-US" sz="2598" spc="-83">
                <a:solidFill>
                  <a:srgbClr val="696969"/>
                </a:solidFill>
                <a:latin typeface="Aileron"/>
                <a:ea typeface="Aileron"/>
                <a:cs typeface="Aileron"/>
                <a:sym typeface="Aileron"/>
              </a:rPr>
              <a:t>Detailed </a:t>
            </a:r>
            <a:r>
              <a:rPr lang="en-US" sz="2598" spc="-83" strike="noStrike" u="none">
                <a:solidFill>
                  <a:srgbClr val="696969"/>
                </a:solidFill>
                <a:latin typeface="Aileron"/>
                <a:ea typeface="Aileron"/>
                <a:cs typeface="Aileron"/>
                <a:sym typeface="Aileron"/>
              </a:rPr>
              <a:t>coaching and correction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842082" y="9399305"/>
            <a:ext cx="4928134" cy="42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7"/>
              </a:lnSpc>
            </a:pPr>
            <a:r>
              <a:rPr lang="en-US" sz="2598" spc="-83">
                <a:solidFill>
                  <a:srgbClr val="696969"/>
                </a:solidFill>
                <a:latin typeface="Aileron"/>
                <a:ea typeface="Aileron"/>
                <a:cs typeface="Aileron"/>
                <a:sym typeface="Aileron"/>
              </a:rPr>
              <a:t>Rev</a:t>
            </a:r>
            <a:r>
              <a:rPr lang="en-US" sz="2598" spc="-83" strike="noStrike" u="none">
                <a:solidFill>
                  <a:srgbClr val="696969"/>
                </a:solidFill>
                <a:latin typeface="Aileron"/>
                <a:ea typeface="Aileron"/>
                <a:cs typeface="Aileron"/>
                <a:sym typeface="Aileron"/>
              </a:rPr>
              <a:t>isit and reinforce lifesaving skills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90400" y="525849"/>
            <a:ext cx="3877691" cy="502851"/>
            <a:chOff x="0" y="0"/>
            <a:chExt cx="3133917" cy="406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57150" cap="sq">
              <a:solidFill>
                <a:srgbClr val="B896F8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69121" y="525849"/>
            <a:ext cx="3877691" cy="502851"/>
            <a:chOff x="0" y="0"/>
            <a:chExt cx="3133917" cy="406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57150" cap="sq">
              <a:solidFill>
                <a:srgbClr val="B896F8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523214" y="525849"/>
            <a:ext cx="3877691" cy="502851"/>
            <a:chOff x="0" y="0"/>
            <a:chExt cx="3133917" cy="406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57150" cap="sq">
              <a:solidFill>
                <a:srgbClr val="B896F8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330832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 problem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521137" y="59119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elppa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709553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gradFill>
                  <a:gsLst>
                    <a:gs pos="0">
                      <a:srgbClr val="573F9D">
                        <a:alpha val="100000"/>
                      </a:srgbClr>
                    </a:gs>
                    <a:gs pos="50000">
                      <a:srgbClr val="332069">
                        <a:alpha val="100000"/>
                      </a:srgbClr>
                    </a:gs>
                    <a:gs pos="100000">
                      <a:srgbClr val="0F042D">
                        <a:alpha val="100000"/>
                      </a:srgbClr>
                    </a:gs>
                  </a:gsLst>
                  <a:lin ang="2700000"/>
                </a:gradFill>
                <a:latin typeface="Open Sauce Medium"/>
                <a:ea typeface="Open Sauce Medium"/>
                <a:cs typeface="Open Sauce Medium"/>
                <a:sym typeface="Open Sauce Medium"/>
              </a:rPr>
              <a:t>Our solution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763646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gradFill>
                  <a:gsLst>
                    <a:gs pos="0">
                      <a:srgbClr val="573F9D">
                        <a:alpha val="100000"/>
                      </a:srgbClr>
                    </a:gs>
                    <a:gs pos="50000">
                      <a:srgbClr val="332069">
                        <a:alpha val="100000"/>
                      </a:srgbClr>
                    </a:gs>
                    <a:gs pos="100000">
                      <a:srgbClr val="0F042D">
                        <a:alpha val="100000"/>
                      </a:srgbClr>
                    </a:gs>
                  </a:gsLst>
                  <a:lin ang="2700000"/>
                </a:gradFill>
                <a:latin typeface="Open Sauce Medium"/>
                <a:ea typeface="Open Sauce Medium"/>
                <a:cs typeface="Open Sauce Medium"/>
                <a:sym typeface="Open Sauce Medium"/>
              </a:rPr>
              <a:t>Our vision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757172"/>
            <a:ext cx="16230600" cy="7767041"/>
            <a:chOff x="0" y="0"/>
            <a:chExt cx="4274726" cy="20456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045641"/>
            </a:xfrm>
            <a:custGeom>
              <a:avLst/>
              <a:gdLst/>
              <a:ahLst/>
              <a:cxnLst/>
              <a:rect r="r" b="b" t="t" l="l"/>
              <a:pathLst>
                <a:path h="2045641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028469"/>
                  </a:lnTo>
                  <a:cubicBezTo>
                    <a:pt x="4274726" y="2037953"/>
                    <a:pt x="4267038" y="2045641"/>
                    <a:pt x="4257554" y="2045641"/>
                  </a:cubicBezTo>
                  <a:lnTo>
                    <a:pt x="17172" y="2045641"/>
                  </a:lnTo>
                  <a:cubicBezTo>
                    <a:pt x="7688" y="2045641"/>
                    <a:pt x="0" y="2037953"/>
                    <a:pt x="0" y="2028469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05BF4">
                    <a:alpha val="0"/>
                  </a:srgbClr>
                </a:gs>
                <a:gs pos="50000">
                  <a:srgbClr val="905BF4">
                    <a:alpha val="38000"/>
                  </a:srgbClr>
                </a:gs>
                <a:gs pos="100000">
                  <a:srgbClr val="905BF4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0F04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274726" cy="2045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76006" y="2229534"/>
            <a:ext cx="6964122" cy="50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727" spc="-167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Introducing Lifesaver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576006" y="2737343"/>
            <a:ext cx="4457730" cy="9525"/>
          </a:xfrm>
          <a:prstGeom prst="line">
            <a:avLst/>
          </a:prstGeom>
          <a:ln cap="flat" w="19050">
            <a:solidFill>
              <a:srgbClr val="0F04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219550" y="1757172"/>
            <a:ext cx="5013985" cy="4173280"/>
          </a:xfrm>
          <a:custGeom>
            <a:avLst/>
            <a:gdLst/>
            <a:ahLst/>
            <a:cxnLst/>
            <a:rect r="r" b="b" t="t" l="l"/>
            <a:pathLst>
              <a:path h="4173280" w="5013985">
                <a:moveTo>
                  <a:pt x="0" y="0"/>
                </a:moveTo>
                <a:lnTo>
                  <a:pt x="5013985" y="0"/>
                </a:lnTo>
                <a:lnTo>
                  <a:pt x="5013985" y="4173280"/>
                </a:lnTo>
                <a:lnTo>
                  <a:pt x="0" y="4173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69018" y="5930452"/>
            <a:ext cx="7611982" cy="3593761"/>
          </a:xfrm>
          <a:custGeom>
            <a:avLst/>
            <a:gdLst/>
            <a:ahLst/>
            <a:cxnLst/>
            <a:rect r="r" b="b" t="t" l="l"/>
            <a:pathLst>
              <a:path h="3593761" w="7611982">
                <a:moveTo>
                  <a:pt x="0" y="0"/>
                </a:moveTo>
                <a:lnTo>
                  <a:pt x="7611982" y="0"/>
                </a:lnTo>
                <a:lnTo>
                  <a:pt x="7611982" y="3593761"/>
                </a:lnTo>
                <a:lnTo>
                  <a:pt x="0" y="3593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33761" y="1757172"/>
            <a:ext cx="3493978" cy="4173280"/>
          </a:xfrm>
          <a:custGeom>
            <a:avLst/>
            <a:gdLst/>
            <a:ahLst/>
            <a:cxnLst/>
            <a:rect r="r" b="b" t="t" l="l"/>
            <a:pathLst>
              <a:path h="4173280" w="3493978">
                <a:moveTo>
                  <a:pt x="0" y="0"/>
                </a:moveTo>
                <a:lnTo>
                  <a:pt x="3493978" y="0"/>
                </a:lnTo>
                <a:lnTo>
                  <a:pt x="3493978" y="4173280"/>
                </a:lnTo>
                <a:lnTo>
                  <a:pt x="0" y="4173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0" r="0" b="-1617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6006" y="3089756"/>
            <a:ext cx="5240353" cy="402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b="true" sz="2062" i="true" spc="-66" u="sng">
                <a:solidFill>
                  <a:srgbClr val="EFEFE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Practice Until It's Muscle Memory </a:t>
            </a:r>
          </a:p>
          <a:p>
            <a:pPr algn="l">
              <a:lnSpc>
                <a:spcPts val="2681"/>
              </a:lnSpc>
            </a:pPr>
          </a:p>
          <a:p>
            <a:pPr algn="l">
              <a:lnSpc>
                <a:spcPts val="2681"/>
              </a:lnSpc>
            </a:pPr>
            <a:r>
              <a:rPr lang="en-US" sz="2062" spc="-66">
                <a:solidFill>
                  <a:srgbClr val="EFEFEF"/>
                </a:solidFill>
                <a:latin typeface="Open Sauce"/>
                <a:ea typeface="Open Sauce"/>
                <a:cs typeface="Open Sauce"/>
                <a:sym typeface="Open Sauce"/>
              </a:rPr>
              <a:t>•  A Vision Pro training app that puts you face-to-face with a 3D human body and AED unit </a:t>
            </a:r>
          </a:p>
          <a:p>
            <a:pPr algn="l">
              <a:lnSpc>
                <a:spcPts val="2681"/>
              </a:lnSpc>
            </a:pPr>
          </a:p>
          <a:p>
            <a:pPr algn="l">
              <a:lnSpc>
                <a:spcPts val="2681"/>
              </a:lnSpc>
            </a:pPr>
            <a:r>
              <a:rPr lang="en-US" sz="2062" spc="-66">
                <a:solidFill>
                  <a:srgbClr val="EFEFEF"/>
                </a:solidFill>
                <a:latin typeface="Open Sauce"/>
                <a:ea typeface="Open Sauce"/>
                <a:cs typeface="Open Sauce"/>
                <a:sym typeface="Open Sauce"/>
              </a:rPr>
              <a:t>•  Theory → AI-coached practice → timed practice, mirroring how real CPR+AED certification courses are structured </a:t>
            </a:r>
          </a:p>
          <a:p>
            <a:pPr algn="l">
              <a:lnSpc>
                <a:spcPts val="2681"/>
              </a:lnSpc>
            </a:pPr>
          </a:p>
          <a:p>
            <a:pPr algn="l">
              <a:lnSpc>
                <a:spcPts val="2681"/>
              </a:lnSpc>
            </a:pPr>
            <a:r>
              <a:rPr lang="en-US" sz="2062" spc="-66">
                <a:solidFill>
                  <a:srgbClr val="EFEFEF"/>
                </a:solidFill>
                <a:latin typeface="Open Sauce"/>
                <a:ea typeface="Open Sauce"/>
                <a:cs typeface="Open Sauce"/>
                <a:sym typeface="Open Sauce"/>
              </a:rPr>
              <a:t>•  Our precise list ensures that every </a:t>
            </a:r>
          </a:p>
          <a:p>
            <a:pPr algn="l" marL="0" indent="0" lvl="0">
              <a:lnSpc>
                <a:spcPts val="2681"/>
              </a:lnSpc>
            </a:pPr>
            <a:r>
              <a:rPr lang="en-US" sz="2062" spc="-66">
                <a:solidFill>
                  <a:srgbClr val="EFEFEF"/>
                </a:solidFill>
                <a:latin typeface="Open Sauce"/>
                <a:ea typeface="Open Sauce"/>
                <a:cs typeface="Open Sauce"/>
                <a:sym typeface="Open Sauce"/>
              </a:rPr>
              <a:t>life-saving step is carefully considered before execution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0400" y="525849"/>
            <a:ext cx="3877691" cy="502851"/>
            <a:chOff x="0" y="0"/>
            <a:chExt cx="313391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80705" y="505469"/>
            <a:ext cx="3877691" cy="502851"/>
            <a:chOff x="0" y="0"/>
            <a:chExt cx="3133917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69121" y="525849"/>
            <a:ext cx="3877691" cy="502851"/>
            <a:chOff x="0" y="0"/>
            <a:chExt cx="3133917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523214" y="525849"/>
            <a:ext cx="3877691" cy="502851"/>
            <a:chOff x="0" y="0"/>
            <a:chExt cx="3133917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33917" cy="406400"/>
            </a:xfrm>
            <a:custGeom>
              <a:avLst/>
              <a:gdLst/>
              <a:ahLst/>
              <a:cxnLst/>
              <a:rect r="r" b="b" t="t" l="l"/>
              <a:pathLst>
                <a:path h="406400" w="3133917">
                  <a:moveTo>
                    <a:pt x="2930717" y="0"/>
                  </a:moveTo>
                  <a:cubicBezTo>
                    <a:pt x="3042941" y="0"/>
                    <a:pt x="3133917" y="90976"/>
                    <a:pt x="3133917" y="203200"/>
                  </a:cubicBezTo>
                  <a:cubicBezTo>
                    <a:pt x="3133917" y="315424"/>
                    <a:pt x="3042941" y="406400"/>
                    <a:pt x="29307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13391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30832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 problem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21137" y="59119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elppa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09553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Our solution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3646" y="611574"/>
            <a:ext cx="3234208" cy="39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b="true" sz="3199" spc="-143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Our vision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05BF4">
                <a:alpha val="0"/>
              </a:srgbClr>
            </a:gs>
            <a:gs pos="50000">
              <a:srgbClr val="905BF4">
                <a:alpha val="38000"/>
              </a:srgbClr>
            </a:gs>
            <a:gs pos="100000">
              <a:srgbClr val="905BF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46094" y="4274503"/>
            <a:ext cx="339581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74253" y="0"/>
            <a:ext cx="18945792" cy="10373186"/>
          </a:xfrm>
          <a:custGeom>
            <a:avLst/>
            <a:gdLst/>
            <a:ahLst/>
            <a:cxnLst/>
            <a:rect r="r" b="b" t="t" l="l"/>
            <a:pathLst>
              <a:path h="10373186" w="18945792">
                <a:moveTo>
                  <a:pt x="0" y="0"/>
                </a:moveTo>
                <a:lnTo>
                  <a:pt x="18945793" y="0"/>
                </a:lnTo>
                <a:lnTo>
                  <a:pt x="18945793" y="10373186"/>
                </a:lnTo>
                <a:lnTo>
                  <a:pt x="0" y="1037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14" t="0" r="0" b="-3917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98837" y="1804262"/>
            <a:ext cx="7160463" cy="130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8"/>
              </a:lnSpc>
            </a:pPr>
            <a:r>
              <a:rPr lang="en-US" sz="9600" spc="-432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Our Vision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6962" y="1519640"/>
            <a:ext cx="16294077" cy="8512042"/>
            <a:chOff x="0" y="0"/>
            <a:chExt cx="4291444" cy="2241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91444" cy="2241855"/>
            </a:xfrm>
            <a:custGeom>
              <a:avLst/>
              <a:gdLst/>
              <a:ahLst/>
              <a:cxnLst/>
              <a:rect r="r" b="b" t="t" l="l"/>
              <a:pathLst>
                <a:path h="2241855" w="4291444">
                  <a:moveTo>
                    <a:pt x="17105" y="0"/>
                  </a:moveTo>
                  <a:lnTo>
                    <a:pt x="4274339" y="0"/>
                  </a:lnTo>
                  <a:cubicBezTo>
                    <a:pt x="4283786" y="0"/>
                    <a:pt x="4291444" y="7658"/>
                    <a:pt x="4291444" y="17105"/>
                  </a:cubicBezTo>
                  <a:lnTo>
                    <a:pt x="4291444" y="2224750"/>
                  </a:lnTo>
                  <a:cubicBezTo>
                    <a:pt x="4291444" y="2234197"/>
                    <a:pt x="4283786" y="2241855"/>
                    <a:pt x="4274339" y="2241855"/>
                  </a:cubicBezTo>
                  <a:lnTo>
                    <a:pt x="17105" y="2241855"/>
                  </a:lnTo>
                  <a:cubicBezTo>
                    <a:pt x="7658" y="2241855"/>
                    <a:pt x="0" y="2234197"/>
                    <a:pt x="0" y="2224750"/>
                  </a:cubicBezTo>
                  <a:lnTo>
                    <a:pt x="0" y="17105"/>
                  </a:lnTo>
                  <a:cubicBezTo>
                    <a:pt x="0" y="7658"/>
                    <a:pt x="7658" y="0"/>
                    <a:pt x="171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73F9D">
                    <a:alpha val="100000"/>
                  </a:srgbClr>
                </a:gs>
                <a:gs pos="50000">
                  <a:srgbClr val="332069">
                    <a:alpha val="100000"/>
                  </a:srgbClr>
                </a:gs>
                <a:gs pos="100000">
                  <a:srgbClr val="0F042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FEFE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291444" cy="2241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561370" y="2418794"/>
            <a:ext cx="9199125" cy="50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727" spc="-167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Train like it's ordinary. Act like it's everything.</a:t>
            </a:r>
          </a:p>
        </p:txBody>
      </p:sp>
      <p:sp>
        <p:nvSpPr>
          <p:cNvPr name="AutoShape 7" id="7"/>
          <p:cNvSpPr/>
          <p:nvPr/>
        </p:nvSpPr>
        <p:spPr>
          <a:xfrm>
            <a:off x="4561370" y="2926603"/>
            <a:ext cx="921853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350645" y="26124"/>
            <a:ext cx="5586710" cy="149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b="true" sz="8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39238" y="4976812"/>
            <a:ext cx="95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71007" y="2979718"/>
            <a:ext cx="13979850" cy="7051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863" u="sng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priority:</a:t>
            </a:r>
          </a:p>
          <a:p>
            <a:pPr algn="l" marL="618257" indent="-309129" lvl="1">
              <a:lnSpc>
                <a:spcPts val="4009"/>
              </a:lnSpc>
              <a:buFont typeface="Arial"/>
              <a:buChar char="•"/>
            </a:pPr>
            <a:r>
              <a:rPr lang="en-US" b="true" sz="28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scenario creation for Toilet, Living Room, Shopping Mall, Workplace to enable better adaption for users when encountering real life saving situations.</a:t>
            </a:r>
          </a:p>
          <a:p>
            <a:pPr algn="l">
              <a:lnSpc>
                <a:spcPts val="4009"/>
              </a:lnSpc>
            </a:pPr>
          </a:p>
          <a:p>
            <a:pPr algn="l">
              <a:lnSpc>
                <a:spcPts val="4009"/>
              </a:lnSpc>
            </a:pPr>
            <a:r>
              <a:rPr lang="en-US" sz="286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updates: </a:t>
            </a:r>
          </a:p>
          <a:p>
            <a:pPr algn="l" marL="618257" indent="-309129" lvl="1">
              <a:lnSpc>
                <a:spcPts val="4009"/>
              </a:lnSpc>
              <a:buFont typeface="Arial"/>
              <a:buChar char="•"/>
            </a:pPr>
            <a:r>
              <a:rPr lang="en-US" b="true" sz="28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Mistake identifier for wrong compression and patch placement</a:t>
            </a:r>
          </a:p>
          <a:p>
            <a:pPr algn="l" marL="618257" indent="-309129" lvl="1">
              <a:lnSpc>
                <a:spcPts val="4009"/>
              </a:lnSpc>
              <a:buFont typeface="Arial"/>
              <a:buChar char="•"/>
            </a:pPr>
            <a:r>
              <a:rPr lang="en-US" b="true" sz="28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Voice Coach to guide you along the way with interactive UI</a:t>
            </a:r>
          </a:p>
          <a:p>
            <a:pPr algn="l" marL="618257" indent="-309129" lvl="1">
              <a:lnSpc>
                <a:spcPts val="4009"/>
              </a:lnSpc>
              <a:buFont typeface="Arial"/>
              <a:buChar char="•"/>
            </a:pPr>
            <a:r>
              <a:rPr lang="en-US" b="true" sz="28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Implementing common scenarios where life saving incidents may occur</a:t>
            </a:r>
          </a:p>
          <a:p>
            <a:pPr algn="l" marL="618257" indent="-309129" lvl="1">
              <a:lnSpc>
                <a:spcPts val="4009"/>
              </a:lnSpc>
              <a:buFont typeface="Arial"/>
              <a:buChar char="•"/>
            </a:pPr>
            <a:r>
              <a:rPr lang="en-US" b="true" sz="28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of 995 calling and removal of clothes before CPR and AED</a:t>
            </a:r>
          </a:p>
          <a:p>
            <a:pPr algn="l" marL="618257" indent="-309129" lvl="1">
              <a:lnSpc>
                <a:spcPts val="4009"/>
              </a:lnSpc>
              <a:buFont typeface="Arial"/>
              <a:buChar char="•"/>
            </a:pPr>
            <a:r>
              <a:rPr lang="en-US" b="true" sz="28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Adding variety to body types and age to simulate realistic encounters</a:t>
            </a:r>
          </a:p>
          <a:p>
            <a:pPr algn="l" marL="618257" indent="-309129" lvl="1">
              <a:lnSpc>
                <a:spcPts val="4009"/>
              </a:lnSpc>
              <a:buFont typeface="Arial"/>
              <a:buChar char="•"/>
            </a:pPr>
            <a:r>
              <a:rPr lang="en-US" b="true" sz="28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Adding Apple Watch and IPhone implementation</a:t>
            </a:r>
          </a:p>
          <a:p>
            <a:pPr algn="l" marL="618257" indent="-309129" lvl="1">
              <a:lnSpc>
                <a:spcPts val="4009"/>
              </a:lnSpc>
              <a:buFont typeface="Arial"/>
              <a:buChar char="•"/>
            </a:pPr>
            <a:r>
              <a:rPr lang="en-US" b="true" sz="286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Other First Aid applications </a:t>
            </a:r>
          </a:p>
          <a:p>
            <a:pPr algn="l">
              <a:lnSpc>
                <a:spcPts val="400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DAHR2-NzYcI</dc:identifier>
  <dcterms:modified xsi:type="dcterms:W3CDTF">2011-08-01T06:04:30Z</dcterms:modified>
  <cp:revision>1</cp:revision>
  <dc:title>Purple and White Modern Startup Pitch Deck Presentation</dc:title>
</cp:coreProperties>
</file>